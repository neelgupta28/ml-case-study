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4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CA555-AAF3-2EB0-8C43-42706BAFF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73410-1CA4-AEE7-27EF-617DDF4A1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4DF5E-630B-A3C4-A008-94FE20F9D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004AD-92AE-308A-7392-A0AE9CE4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4602E-4436-7A15-590E-E19E7775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5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886A-AD58-10E9-A992-55421D22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EA3E1-9294-F576-3357-220F710F9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79596-F11F-7241-5284-FF7A33D3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20137-A22D-086F-C7BA-E4625504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34091-726E-D904-A3F3-E11456614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702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FAB3-7C0D-524F-4907-6A626425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8464-2D27-6681-3ACE-D7EBA97CD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9D7C3-3618-FEAB-7949-5D393E82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DFE54-1B80-5981-7D93-2C4ADB40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A676A-DADD-4193-F3FF-4334E059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04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655A9-1721-4266-D886-7211BE1C3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02CEF-478D-BC86-C51A-CA75E8F2C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E3980-B807-2466-0254-94FF3F254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BC358-7006-E8C8-C3CA-C0D66F75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6A4E5-F0AF-C63C-9805-98B949C4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FF714-4AF6-5905-B56C-AEF14768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45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FE2F-0619-150C-1E8C-C99357741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9B8CF-C9BF-9A47-CA91-2069ADD21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907DD-AA94-CED7-AC61-E1894BCDE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8BE26-FBB5-9BA8-C339-D42958DF7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A36FF-70B5-88B7-5D7D-1513529D8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E39AE-B21D-3354-5C51-7F872112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C6C43C-952C-3868-6133-1930CCA07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0415F-BE20-7FED-E5D3-17A0312C4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964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69E6-3E60-80DD-295B-9979DD66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8977C5-CE70-DE09-2C3D-33A7CBCEA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686D5-92C9-6866-5D2C-0969735C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B5681-7EC9-E62E-985C-6CE9B2C3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05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9958D-EFE9-E2C0-F6B3-4D15B325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61A64-D001-65CA-02DA-30869570E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D95E3-7EE0-5103-727E-AB24B102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D538-6B56-9424-8BB2-4BCBB788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CF6-1169-9233-3B65-149626D21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861D3-3269-9EF0-E58F-65793718F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D73B0-0606-C532-9E25-94B6B438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0B1BE-60D4-61B7-68C8-A0854CD9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D20CE-3365-53D1-D52E-22841A04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09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A5FE-B604-1348-59BE-44943D591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C496E7-B170-208A-A116-2972D25FB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8062D-9D20-F635-6078-48366BC35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043A1-E3AA-4028-7F27-CABF4018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FE945-05D8-86B6-44FD-6FAB78FF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2A3A6-BA18-36B0-9DB0-79193A2B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29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3E1F7-4C3C-0B26-AF7A-1CA23337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6AFA2-3F1B-E0F9-840E-3EEC346B8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338BB-1BD4-AB3D-2CBA-48A678AC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D9878-D21D-5897-538E-759E77583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31C28-3793-AFA4-0D13-6122C8773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61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76C6FF-D51D-1F92-9E78-D20C321C3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15725-14C4-3B67-1DF5-32665D7FA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A9BC0-E4A5-7903-C251-FD7B52E0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F4024-01A6-5E30-8FB7-38E372D5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EA6D-F54E-2B89-ECEF-78BFC8E7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37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037FD-FE4A-6C9D-F19F-1F212F39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352FF-B7F1-D3E1-208E-8EAC55E27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1C810-49FC-4CDD-ACB7-2E2F21BB7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1B4A1-00F5-4E55-BF72-91A367E14FA7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B5B23-E0F8-4430-13B3-614133378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D9DAB-EE48-0225-11D9-05904E420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DF926-2F17-4470-A07C-B87ADA9EC6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781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4E4C9-82DD-CA46-5E25-908ADBEB5E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Customer Churn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CD0FE-0592-92E0-2D46-8722F28FA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254" y="3861810"/>
            <a:ext cx="2784765" cy="1655762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dirty="0"/>
              <a:t>Asmit Mishra- 23SCSE1420131</a:t>
            </a:r>
          </a:p>
          <a:p>
            <a:pPr algn="just"/>
            <a:r>
              <a:rPr lang="en-US" dirty="0"/>
              <a:t>Neel Gupta – 23SCSE1420140</a:t>
            </a:r>
          </a:p>
          <a:p>
            <a:pPr algn="just"/>
            <a:r>
              <a:rPr lang="en-US" dirty="0"/>
              <a:t>Shubham Jain – 23SCSE1380005</a:t>
            </a:r>
          </a:p>
          <a:p>
            <a:pPr algn="just"/>
            <a:r>
              <a:rPr lang="en-US" dirty="0"/>
              <a:t>Siddharth Gaur – 23SCSE1420117</a:t>
            </a:r>
          </a:p>
          <a:p>
            <a:pPr algn="just"/>
            <a:r>
              <a:rPr lang="en-US" dirty="0" err="1"/>
              <a:t>Samradh</a:t>
            </a:r>
            <a:r>
              <a:rPr lang="en-US" dirty="0"/>
              <a:t> Singh – 23SCSE1420154</a:t>
            </a:r>
          </a:p>
          <a:p>
            <a:pPr algn="just"/>
            <a:r>
              <a:rPr lang="en-US" dirty="0"/>
              <a:t>Sahil Kumar – 23SCSE1420131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415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EFC4-DAA2-9AB8-0F96-7D9639A1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0110D-C33C-8FD7-3612-7368CE05B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Customer churn means customers stop using a service.</a:t>
            </a:r>
          </a:p>
          <a:p>
            <a:r>
              <a:rPr lang="en-IN" dirty="0"/>
              <a:t>Retaining customers is cheaper than acquiring new ones.</a:t>
            </a:r>
          </a:p>
          <a:p>
            <a:r>
              <a:rPr lang="en-IN" dirty="0"/>
              <a:t>Early churn prediction helps companies take preventive actions.</a:t>
            </a:r>
          </a:p>
          <a:p>
            <a:r>
              <a:rPr lang="en-IN" dirty="0"/>
              <a:t>Machine Learning enables automated and accurate churn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753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1EE41-8B51-E678-7C59-7A549F8F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C1A0F-596D-6168-0461-60A7B92FB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Predict whether a customer will </a:t>
            </a:r>
            <a:r>
              <a:rPr lang="en-IN" b="1" dirty="0"/>
              <a:t>churn (Yes/No)</a:t>
            </a:r>
            <a:endParaRPr lang="en-IN" dirty="0"/>
          </a:p>
          <a:p>
            <a:r>
              <a:rPr lang="en-IN" dirty="0"/>
              <a:t>Use historical customer data</a:t>
            </a:r>
          </a:p>
          <a:p>
            <a:r>
              <a:rPr lang="en-IN" dirty="0"/>
              <a:t>Help businesses reduce customer loss</a:t>
            </a:r>
          </a:p>
          <a:p>
            <a:r>
              <a:rPr lang="en-IN" dirty="0"/>
              <a:t>ML Task: </a:t>
            </a:r>
            <a:r>
              <a:rPr lang="en-IN" b="1" dirty="0"/>
              <a:t>Binary Classification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576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FEE9-59E3-BE21-7F1E-5C8981DA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40B3-766F-4B39-CA0D-B7B9BBDAD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Dataset:</a:t>
            </a:r>
            <a:r>
              <a:rPr lang="en-IN" dirty="0"/>
              <a:t> Telco Customer Churn</a:t>
            </a:r>
          </a:p>
          <a:p>
            <a:r>
              <a:rPr lang="en-IN" b="1" dirty="0"/>
              <a:t>Source:</a:t>
            </a:r>
            <a:r>
              <a:rPr lang="en-IN" dirty="0"/>
              <a:t> Kaggle (Public dataset) “https://www.kaggle.com/datasets/</a:t>
            </a:r>
            <a:r>
              <a:rPr lang="en-IN" dirty="0" err="1"/>
              <a:t>blastchar</a:t>
            </a:r>
            <a:r>
              <a:rPr lang="en-IN" dirty="0"/>
              <a:t>/telco-customer-churn”</a:t>
            </a:r>
          </a:p>
          <a:p>
            <a:r>
              <a:rPr lang="en-IN" b="1" dirty="0"/>
              <a:t>Records:</a:t>
            </a:r>
            <a:r>
              <a:rPr lang="en-IN" dirty="0"/>
              <a:t> 7043 customers</a:t>
            </a:r>
          </a:p>
          <a:p>
            <a:r>
              <a:rPr lang="en-IN" b="1" dirty="0"/>
              <a:t>Features:</a:t>
            </a:r>
            <a:r>
              <a:rPr lang="en-IN" dirty="0"/>
              <a:t> 19 input features + 1 target</a:t>
            </a:r>
          </a:p>
          <a:p>
            <a:r>
              <a:rPr lang="en-IN" b="1" dirty="0"/>
              <a:t>Target Variable:</a:t>
            </a:r>
            <a:r>
              <a:rPr lang="en-IN" dirty="0"/>
              <a:t> Churn</a:t>
            </a:r>
          </a:p>
          <a:p>
            <a:r>
              <a:rPr lang="en-IN" b="1" dirty="0"/>
              <a:t>Examples of Features:</a:t>
            </a:r>
            <a:endParaRPr lang="en-IN" dirty="0"/>
          </a:p>
          <a:p>
            <a:pPr lvl="0"/>
            <a:r>
              <a:rPr lang="en-IN" dirty="0"/>
              <a:t>Tenure</a:t>
            </a:r>
          </a:p>
          <a:p>
            <a:pPr lvl="0"/>
            <a:r>
              <a:rPr lang="en-IN" dirty="0"/>
              <a:t>Monthly Charges</a:t>
            </a:r>
          </a:p>
          <a:p>
            <a:pPr lvl="0"/>
            <a:r>
              <a:rPr lang="en-IN" dirty="0"/>
              <a:t>Contract Type</a:t>
            </a:r>
          </a:p>
          <a:p>
            <a:pPr lvl="0"/>
            <a:r>
              <a:rPr lang="en-IN" dirty="0"/>
              <a:t>Internet Service</a:t>
            </a:r>
          </a:p>
          <a:p>
            <a:pPr lvl="0"/>
            <a:r>
              <a:rPr lang="en-IN" dirty="0"/>
              <a:t>Payment Method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B38CE7-A98B-01AB-B607-E882D716D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573" y="3567203"/>
            <a:ext cx="7333567" cy="241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0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60C1-E9EE-F1C5-FC17-F1E2BEA4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7718A-447B-A031-EAE5-7320B247C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Removed irrelevant column (Customer ID)</a:t>
            </a:r>
          </a:p>
          <a:p>
            <a:pPr lvl="0"/>
            <a:r>
              <a:rPr lang="en-IN" dirty="0"/>
              <a:t>Handled missing values in </a:t>
            </a:r>
            <a:r>
              <a:rPr lang="en-IN" dirty="0" err="1"/>
              <a:t>TotalCharges</a:t>
            </a:r>
            <a:endParaRPr lang="en-IN" dirty="0"/>
          </a:p>
          <a:p>
            <a:pPr lvl="0"/>
            <a:r>
              <a:rPr lang="en-IN" dirty="0"/>
              <a:t>Encoded categorical variables</a:t>
            </a:r>
          </a:p>
          <a:p>
            <a:pPr lvl="0"/>
            <a:r>
              <a:rPr lang="en-IN" dirty="0"/>
              <a:t>Feature scaling using </a:t>
            </a:r>
            <a:r>
              <a:rPr lang="en-IN" dirty="0" err="1"/>
              <a:t>StandardScaler</a:t>
            </a:r>
            <a:endParaRPr lang="en-IN" dirty="0"/>
          </a:p>
          <a:p>
            <a:pPr lvl="0"/>
            <a:r>
              <a:rPr lang="en-IN" dirty="0"/>
              <a:t>Dataset split:</a:t>
            </a:r>
          </a:p>
          <a:p>
            <a:pPr lvl="1"/>
            <a:r>
              <a:rPr lang="en-IN" dirty="0"/>
              <a:t>70% Training</a:t>
            </a:r>
          </a:p>
          <a:p>
            <a:pPr lvl="1"/>
            <a:r>
              <a:rPr lang="en-IN" dirty="0"/>
              <a:t>15% Validation</a:t>
            </a:r>
          </a:p>
          <a:p>
            <a:pPr lvl="1"/>
            <a:r>
              <a:rPr lang="en-IN" dirty="0"/>
              <a:t>15% Testing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50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F4AA-6E27-E812-91C2-00D380E2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D41FB-45D4-31B2-8542-F737D65B8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Model 1: Logistic Regression</a:t>
            </a:r>
            <a:endParaRPr lang="en-IN" dirty="0"/>
          </a:p>
          <a:p>
            <a:pPr lvl="0"/>
            <a:r>
              <a:rPr lang="en-IN" dirty="0"/>
              <a:t>Simple and interpretable</a:t>
            </a:r>
          </a:p>
          <a:p>
            <a:pPr lvl="0"/>
            <a:r>
              <a:rPr lang="en-IN" dirty="0"/>
              <a:t>Baseline classification model</a:t>
            </a:r>
          </a:p>
          <a:p>
            <a:pPr marL="0" indent="0">
              <a:buNone/>
            </a:pPr>
            <a:r>
              <a:rPr lang="en-IN" b="1" dirty="0"/>
              <a:t>Model 2: Random Forest</a:t>
            </a:r>
            <a:endParaRPr lang="en-IN" dirty="0"/>
          </a:p>
          <a:p>
            <a:pPr lvl="0"/>
            <a:r>
              <a:rPr lang="en-IN" dirty="0"/>
              <a:t>Ensemble learning method</a:t>
            </a:r>
          </a:p>
          <a:p>
            <a:pPr lvl="0"/>
            <a:r>
              <a:rPr lang="en-IN" dirty="0"/>
              <a:t>Handles non-linear relationships</a:t>
            </a:r>
          </a:p>
          <a:p>
            <a:pPr lvl="0"/>
            <a:r>
              <a:rPr lang="en-IN" dirty="0"/>
              <a:t>Reduces overfitting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245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FFF3E-C640-A385-BCFA-75E73F301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642CE-9FAA-5EB6-8F40-7B26588E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Classification Metrics Used:</a:t>
            </a:r>
            <a:endParaRPr lang="en-IN" dirty="0"/>
          </a:p>
          <a:p>
            <a:pPr lvl="0"/>
            <a:r>
              <a:rPr lang="en-IN" dirty="0"/>
              <a:t>Accuracy</a:t>
            </a:r>
          </a:p>
          <a:p>
            <a:pPr lvl="0"/>
            <a:r>
              <a:rPr lang="en-IN" dirty="0"/>
              <a:t>Precision</a:t>
            </a:r>
          </a:p>
          <a:p>
            <a:pPr lvl="0"/>
            <a:r>
              <a:rPr lang="en-IN" dirty="0"/>
              <a:t>Recall</a:t>
            </a:r>
          </a:p>
          <a:p>
            <a:pPr lvl="0"/>
            <a:r>
              <a:rPr lang="en-IN" dirty="0"/>
              <a:t>F1-Score</a:t>
            </a:r>
          </a:p>
          <a:p>
            <a:pPr lvl="0"/>
            <a:r>
              <a:rPr lang="en-IN" dirty="0"/>
              <a:t>Confusion Matrix</a:t>
            </a:r>
          </a:p>
          <a:p>
            <a:pPr lvl="0"/>
            <a:r>
              <a:rPr lang="en-IN" dirty="0"/>
              <a:t>ROC Curve &amp; AUC</a:t>
            </a:r>
          </a:p>
          <a:p>
            <a:r>
              <a:rPr lang="en-IN" dirty="0"/>
              <a:t>These metrics ensure fair and reliable model comparison.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20F2A-ABBF-0ADF-12B2-D11422FE4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663" y="1850578"/>
            <a:ext cx="4765973" cy="315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4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A5BE-A4D4-266E-B751-0F315501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&amp; </a:t>
            </a:r>
            <a:r>
              <a:rPr lang="en-IN" dirty="0" err="1"/>
              <a:t>Comparision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46DD9-3713-08BF-A7A4-8D586A0FB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Best Model : Random Forest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D5B20-8ACA-CA9D-4F5C-BF9A0C8A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3" y="1576961"/>
            <a:ext cx="11307961" cy="407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5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C0DBE-FB4F-C9D8-7DFA-2E486428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C5151-C24A-4D16-7118-A1C108BFD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Best Model:</a:t>
            </a:r>
            <a:r>
              <a:rPr lang="en-IN" sz="2400" dirty="0"/>
              <a:t> Random Forest</a:t>
            </a:r>
          </a:p>
          <a:p>
            <a:pPr lvl="0"/>
            <a:r>
              <a:rPr lang="en-IN" sz="2400" dirty="0"/>
              <a:t>Confusion Matrix (Both Models)</a:t>
            </a:r>
          </a:p>
          <a:p>
            <a:pPr lvl="0"/>
            <a:r>
              <a:rPr lang="en-IN" sz="2400" dirty="0"/>
              <a:t>ROC Curve Comparison</a:t>
            </a:r>
          </a:p>
          <a:p>
            <a:pPr lvl="0"/>
            <a:r>
              <a:rPr lang="en-IN" sz="2400" dirty="0"/>
              <a:t>Accuracy Comparison Bar Chart</a:t>
            </a:r>
          </a:p>
          <a:p>
            <a:pPr lvl="0"/>
            <a:r>
              <a:rPr lang="en-IN" sz="2400" dirty="0"/>
              <a:t>Feature Importance Plot (Random Forest)</a:t>
            </a:r>
          </a:p>
          <a:p>
            <a:r>
              <a:rPr lang="en-IN" sz="2400" dirty="0"/>
              <a:t>(Random Forest shows better performance in all metrics)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8005F-79F6-9071-70D7-EAA89A626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95" y="1027906"/>
            <a:ext cx="3455421" cy="2953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4567FF-7E1D-D5E4-FDD1-2BD52CE01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960" y="4001294"/>
            <a:ext cx="3618209" cy="27662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AF5A61-9B55-ABFA-2FF7-52DED7E2E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8863" y="4491947"/>
            <a:ext cx="2883781" cy="227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4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8FB0-36D9-8A42-3B28-BDD8F61B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88E7D-8AE9-5F45-AA2C-0F1D25C76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Machine Learning can effectively predict customer churn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Random Forest outperformed Logistic Regression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Important factors include tenure, contract type, and charges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Churn prediction helps improve customer retention strategies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3AF99-7EF9-F3E8-E8B0-5B5840A1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979" y="3848608"/>
            <a:ext cx="4115740" cy="290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18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AE47-3774-0AF7-46B9-7B9CE852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3C3D9-5CED-C2B5-E7B9-AD964B045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Apply Deep Learning models (ANN)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Use real-time customer </a:t>
            </a:r>
            <a:r>
              <a:rPr lang="en-IN" dirty="0" err="1"/>
              <a:t>behavior</a:t>
            </a:r>
            <a:r>
              <a:rPr lang="en-IN" dirty="0"/>
              <a:t>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Improve feature engineering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Integrate with CRM systems for automated alerts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757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1B55-5BC8-B511-885C-4DA5459DC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Forest Feature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34EC44-9A2F-4066-69BD-11B3F1D0B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Thankyou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C16E1A-8830-06F5-8F74-F7CD71748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7253"/>
            <a:ext cx="9524837" cy="374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13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Wingdings</vt:lpstr>
      <vt:lpstr>Office Theme</vt:lpstr>
      <vt:lpstr>Customer Churn Prediction using Machine learning</vt:lpstr>
      <vt:lpstr>Introduction &amp; Motivation</vt:lpstr>
      <vt:lpstr>Problem Statement</vt:lpstr>
      <vt:lpstr>Dataset Description</vt:lpstr>
      <vt:lpstr>Data Pre-Processing</vt:lpstr>
      <vt:lpstr>Machine Learning Models</vt:lpstr>
      <vt:lpstr>Evaluation Metrics</vt:lpstr>
      <vt:lpstr>Result &amp; Comparision</vt:lpstr>
      <vt:lpstr>Graphical Analysis</vt:lpstr>
      <vt:lpstr>Conclusion</vt:lpstr>
      <vt:lpstr>Future Scope</vt:lpstr>
      <vt:lpstr>Random Forest Feature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gupta</dc:creator>
  <cp:lastModifiedBy>harsh gupta</cp:lastModifiedBy>
  <cp:revision>1</cp:revision>
  <dcterms:created xsi:type="dcterms:W3CDTF">2026-01-01T12:31:58Z</dcterms:created>
  <dcterms:modified xsi:type="dcterms:W3CDTF">2026-01-01T12:32:39Z</dcterms:modified>
</cp:coreProperties>
</file>